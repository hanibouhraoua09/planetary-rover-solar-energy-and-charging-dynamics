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6858000" cy="68580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182880"/>
            <a:ext cx="2926080" cy="2926080"/>
          </a:xfrm>
          <a:prstGeom prst="ellipse">
            <a:avLst/>
          </a:prstGeom>
          <a:solidFill>
            <a:srgbClr val="E8A33D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ASSIGNMENT D1-V7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Planetary Rover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EB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Energy and Charging Dynamics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in PDDL and PDDL+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937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 Bouhraoua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8314923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AI4Ro2 — Artificial Intelligence for Robotics 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&amp; Core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rover explores a graph of locations.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consumes battery to move between nodes.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recharges via solar panels in sun-exposed zones.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efficiency varies by location.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visit every location without running out of energy.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257800" cy="2148840"/>
          </a:xfrm>
          <a:prstGeom prst="rect">
            <a:avLst/>
          </a:prstGeom>
          <a:solidFill>
            <a:srgbClr val="21295C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balance to model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 </a:t>
            </a:r>
            <a:pPr indent="0" marL="0">
              <a:buNone/>
            </a:pPr>
            <a:r>
              <a:rPr lang="en-US" sz="18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recovery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6060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exploring → battery dies. Too much charging → goal never met. A good plan interleaves the two.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3886200"/>
            <a:ext cx="5257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questions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Classical PDDL: recharge as an action.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PDDL+: recharge as a continuous process + a night-time event.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MODELLING CHOICE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object? What is a property? What is a quantity?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Decisive question: is it something the planner manipulates, or a property/quantity attached to something else?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35204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0195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OBJECTS (types)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200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types.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a property or a number.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0248" y="187452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0248" y="1874520"/>
            <a:ext cx="352044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07408" y="190195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PREDICATES (true/false)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53128" y="2468880"/>
            <a:ext cx="3200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(at ?r ?l)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(connected ?l1 ?l2)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(solar-zone ?l)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(visited ?l)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(daytime)  — Q2 only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91856" y="187452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91856" y="1874520"/>
            <a:ext cx="352044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129016" y="190195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FLUENTS (numbers)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174736" y="2468880"/>
            <a:ext cx="3200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(battery-level ?r)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(max-battery ?r)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(move-cost ?l1 ?l2)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(charge-rate ?l)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(time-of-day)  — Q2 only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11082528" cy="1234440"/>
          </a:xfrm>
          <a:prstGeom prst="rect">
            <a:avLst/>
          </a:prstGeom>
          <a:solidFill>
            <a:srgbClr val="21295C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919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split?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285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move-cost</a:t>
            </a:r>
            <a:pPr indent="0" marL="0">
              <a:buNone/>
            </a:pPr>
            <a:r>
              <a:rPr lang="en-US" sz="13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(consumption) vs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charge-rate</a:t>
            </a:r>
            <a:pPr indent="0" marL="0">
              <a:buNone/>
            </a:pPr>
            <a:r>
              <a:rPr lang="en-US" sz="13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(generation) → satisfies “distinguish consumption from generation”.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charge-rate is per-location</a:t>
            </a:r>
            <a:pPr indent="0" marL="0">
              <a:buNone/>
            </a:pPr>
            <a:r>
              <a:rPr lang="en-US" sz="13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“efficiency varies by location”.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MODELLING CHOICE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Map — a directional graph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0"/>
            <a:ext cx="2103120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937760" y="2880360"/>
            <a:ext cx="0" cy="128016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2423160" y="4572000"/>
            <a:ext cx="2103120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11680" y="2880360"/>
            <a:ext cx="0" cy="128016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2377440" y="2834640"/>
            <a:ext cx="2194560" cy="1371600"/>
          </a:xfrm>
          <a:prstGeom prst="line">
            <a:avLst/>
          </a:prstGeom>
          <a:noFill/>
          <a:ln w="31750">
            <a:solidFill>
              <a:srgbClr val="C62828"/>
            </a:solidFill>
            <a:prstDash val="dash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600200" y="2057400"/>
            <a:ext cx="822960" cy="82296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26280" y="2057400"/>
            <a:ext cx="822960" cy="822960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26280" y="4160520"/>
            <a:ext cx="822960" cy="822960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600200" y="4160520"/>
            <a:ext cx="822960" cy="82296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= solar zone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1828800"/>
            <a:ext cx="51206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1938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Edges &amp; costs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2377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A→B, B→C, C→D   cost 10   (scenic route, total 30)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A→D             cost 15   (skips B and C)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B→D             cost 20   (decoy, skips C)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75120" y="3657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connected is one-way. No edge enters A → the rover must start at A.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75120" y="43434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 edge B→D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(red, dashed): skips C, so it can never satisfy a “visit-all” goal — it proves the planner reasons about the goal, not just connectivity.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75120" y="5394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(Style 3): 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every location.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— CLASSICAL PDDL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actions: move (consumes) &amp; recharge (generates)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480560"/>
          </a:xfrm>
          <a:prstGeom prst="rect">
            <a:avLst/>
          </a:prstGeom>
          <a:solidFill>
            <a:srgbClr val="1B25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64208"/>
            <a:ext cx="5248656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E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 move — consumes battery to cross an edge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(:action move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:parameters (?r - rover ?from ?to - location)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:precondition (and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(at ?r ?from) (connected ?from ?to)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(&gt;= (battery-level ?r)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(move-cost ?from ?to)))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:effect (and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(not (at ?r ?from)) (at ?r ?to)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(visited ?to)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(decrease (battery-level ?r)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(move-cost ?from ?to))))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349240" cy="3246120"/>
          </a:xfrm>
          <a:prstGeom prst="rect">
            <a:avLst/>
          </a:prstGeom>
          <a:solidFill>
            <a:srgbClr val="1B25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8232" y="1664208"/>
            <a:ext cx="502005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E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 recharge — instantaneous gain at a sun zone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(:action recharge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:parameters (?r - rover ?l - location)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:precondition (and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(at ?r ?l) (solar-zone ?l)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(&lt;= (+ (battery-level ?r)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(charge-rate ?l))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(max-battery ?r)))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:effect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(increase (battery-level ?r)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(charge-rate ?l)))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4937760"/>
            <a:ext cx="5349240" cy="1097280"/>
          </a:xfrm>
          <a:prstGeom prst="rect">
            <a:avLst/>
          </a:prstGeom>
          <a:solidFill>
            <a:srgbClr val="21295C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50292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 </a:t>
            </a:r>
            <a:pPr indent="0" marL="0">
              <a:buNone/>
            </a:pPr>
            <a:r>
              <a:rPr lang="en-US" sz="13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 precondition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(&gt;= battery move-cost)</a:t>
            </a:r>
            <a:pPr indent="0" marL="0">
              <a:buNone/>
            </a:pPr>
            <a:r>
              <a:rPr lang="en-US" sz="13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what makes energy a real constraint — the rover cannot cross an edge it cannot afford.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domain, one number changed → energy drives the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4864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27632"/>
            <a:ext cx="5120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A — recharge OPTIONAL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battery 50 (generous)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5029200" cy="1371600"/>
          </a:xfrm>
          <a:prstGeom prst="rect">
            <a:avLst/>
          </a:prstGeom>
          <a:solidFill>
            <a:srgbClr val="1B25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761488"/>
            <a:ext cx="47000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 (move rover1 locA locB)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(move rover1 locB locC)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 (move rover1 locC locD)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1605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Battery: 50 → 40 → 30 → 20. 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recharge</a:t>
            </a:r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planner never inserts a step it doesn’t need.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4406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600200"/>
            <a:ext cx="5440680" cy="502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627632"/>
            <a:ext cx="5074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B — recharge NECESSARY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2402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battery 25 (tight)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2651760"/>
            <a:ext cx="4983480" cy="1737360"/>
          </a:xfrm>
          <a:prstGeom prst="rect">
            <a:avLst/>
          </a:prstGeom>
          <a:solidFill>
            <a:srgbClr val="1B25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2761488"/>
            <a:ext cx="465429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 (move rover1 locA locB)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(move rover1 locB locC)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 (recharge rover1 locC)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 (move rover1 locC locD)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52628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Battery: 25 → 15 → 5 → (recharge) 30 → 20.  </a:t>
            </a:r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forced</a:t>
            </a:r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without it, stranded at C with 5 &lt; 10.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— PDDL+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recharge becomes a process, and nightfall an event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8252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1920240" cy="9326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920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651760" y="1801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by: </a:t>
            </a:r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(agent)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51760" y="216712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planner chooses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09760" y="1691640"/>
            <a:ext cx="2011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1108252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770632"/>
            <a:ext cx="1920240" cy="9326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70632"/>
            <a:ext cx="1920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5176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by: </a:t>
            </a:r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(automatic)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51760" y="32461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its precondition holds — continuous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09760" y="2770632"/>
            <a:ext cx="2011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1108252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849624"/>
            <a:ext cx="1920240" cy="9326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49624"/>
            <a:ext cx="1920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651760" y="3959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by: </a:t>
            </a:r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(automatic)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651760" y="432511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instant its precondition becomes true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0" y="3849624"/>
            <a:ext cx="2011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nightfall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1082528" cy="960120"/>
          </a:xfrm>
          <a:prstGeom prst="rect">
            <a:avLst/>
          </a:prstGeom>
          <a:solidFill>
            <a:srgbClr val="21295C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indent="0" marL="0">
              <a:buNone/>
            </a:pPr>
            <a:r>
              <a:rPr lang="en-US" sz="15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rover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</a:t>
            </a:r>
            <a:pPr indent="0" marL="0">
              <a:buNone/>
            </a:pPr>
            <a:r>
              <a:rPr lang="en-US" sz="15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move (action), but the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</a:t>
            </a:r>
            <a:pPr indent="0" marL="0">
              <a:buNone/>
            </a:pPr>
            <a:r>
              <a:rPr lang="en-US" sz="15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charges it automatically (process) and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</a:t>
            </a:r>
            <a:pPr indent="0" marL="0">
              <a:buNone/>
            </a:pPr>
            <a:r>
              <a:rPr lang="en-US" sz="15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brings the night (event).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— PDDL+ DOMAIN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charging process and the nightfall event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3063240"/>
          </a:xfrm>
          <a:prstGeom prst="rect">
            <a:avLst/>
          </a:prstGeom>
          <a:solidFill>
            <a:srgbClr val="1B25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64208"/>
            <a:ext cx="5248656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E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 continuous charging — rate x elapsed time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(:process charging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:parameters (?r - rover ?l - location)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:precondition (and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(at ?r ?l) (solar-zone ?l) (daytime)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(&lt; (battery-level ?r)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(max-battery ?r)))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:effect (increase (battery-level ?r)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(* #t (charge-rate ?l))))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349240" cy="3063240"/>
          </a:xfrm>
          <a:prstGeom prst="rect">
            <a:avLst/>
          </a:prstGeom>
          <a:solidFill>
            <a:srgbClr val="1B25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8232" y="1664208"/>
            <a:ext cx="5020056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E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 the sun goes down at t = 100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(:event nightfall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:parameters ()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:precondition (and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(&gt;= (time-of-day) 100)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(daytime))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:effect (not (daytime)))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5577840" cy="1234440"/>
          </a:xfrm>
          <a:prstGeom prst="rect">
            <a:avLst/>
          </a:prstGeom>
          <a:solidFill>
            <a:srgbClr val="21295C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489204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 #t (charge-rate ?l))  </a:t>
            </a:r>
            <a:pPr indent="0" marL="0">
              <a:buNone/>
            </a:pPr>
            <a:r>
              <a:rPr lang="en-US" sz="13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elapsed time × rate. Battery rises continuously while the rover sits in the sun.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4800600"/>
            <a:ext cx="5349240" cy="1234440"/>
          </a:xfrm>
          <a:prstGeom prst="rect">
            <a:avLst/>
          </a:prstGeom>
          <a:solidFill>
            <a:srgbClr val="21295C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489204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reference each other. </a:t>
            </a:r>
            <a:pPr indent="0" marL="0">
              <a:buNone/>
            </a:pPr>
            <a:r>
              <a:rPr lang="en-US" sz="13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nightfall flips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(daytime)</a:t>
            </a:r>
            <a:pPr indent="0" marL="0">
              <a:buNone/>
            </a:pPr>
            <a:r>
              <a:rPr lang="en-US" sz="13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charging’s precondition fails → it stops instantly.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cases: how timing decides feasibility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8252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645920"/>
                <a:gridCol w="623620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time-of-day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easy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moves, no charging — process unused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tight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(splits B+C) → valid 47-tick plan, but NOT time-optimal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fastzone-only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21 ticks left → forced into OPTIMAL 20-tick plan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infeasible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15 ticks left → nightfall blocks the goal → UNSOLVABLE 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82528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 </a:t>
            </a:r>
            <a:pPr indent="0" marL="0">
              <a:buNone/>
            </a:pPr>
            <a:r>
              <a:rPr lang="en-US" sz="14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map, same battery, same charge rates — only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time-of-day</a:t>
            </a:r>
            <a:pPr indent="0" marL="0">
              <a:buNone/>
            </a:pPr>
            <a:r>
              <a:rPr lang="en-US" sz="14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differs. A tighter deadline flips the plan from 47 ticks → 20 ticks → unsolvable. PDDL+ guarantees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validity, not optimality</a:t>
            </a:r>
            <a:pPr indent="0" marL="0">
              <a:buNone/>
            </a:pPr>
            <a:r>
              <a:rPr lang="en-US" sz="14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— PLANNER OUTPUTS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cases as ENHSP produced them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76672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</a:t>
            </a:r>
            <a:pPr indent="0" marL="0">
              <a:buNone/>
            </a:pPr>
            <a:r>
              <a:rPr lang="en-US" sz="1100" i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battery 60, t=0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5376672" cy="1737360"/>
          </a:xfrm>
          <a:prstGeom prst="rect">
            <a:avLst/>
          </a:prstGeom>
          <a:solidFill>
            <a:srgbClr val="1B254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29968"/>
            <a:ext cx="5047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0.0: (move rover1 locA locB)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0.0: (move rover1 locB locC)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0.0: (move rover1 locC locD)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Elapsed Time: 0.0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3310128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charging — process unused.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76672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554480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tight</a:t>
            </a:r>
            <a:pPr indent="0" marL="0">
              <a:buNone/>
            </a:pPr>
            <a:r>
              <a:rPr lang="en-US" sz="1100" i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battery 20, t=0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938528"/>
            <a:ext cx="5376672" cy="1737360"/>
          </a:xfrm>
          <a:prstGeom prst="rect">
            <a:avLst/>
          </a:prstGeom>
          <a:solidFill>
            <a:srgbClr val="1B25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2029968"/>
            <a:ext cx="5047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    (move rover1 locA locB)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    --waiting-- [45.0]   ; B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45.0: (move rover1 locB locC)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45.0: --waiting-- [47.0]   ; C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47.0: (move rover1 locC locD)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Elapsed Time: 47.0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3310128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but NOT time-optimal (splits B+C).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76672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40480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fastzone-only</a:t>
            </a:r>
            <a:pPr indent="0" marL="0">
              <a:buNone/>
            </a:pPr>
            <a:r>
              <a:rPr lang="en-US" sz="1100" i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battery 20, t=79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5376672" cy="1737360"/>
          </a:xfrm>
          <a:prstGeom prst="rect">
            <a:avLst/>
          </a:prstGeom>
          <a:solidFill>
            <a:srgbClr val="1B2540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315968"/>
            <a:ext cx="5047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    (move rover1 locA locB)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    (move rover1 locB locC)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    --waiting-- [20.0]   ; C only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20.0: (move rover1 locC locD)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Elapsed Time: 20.0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5596128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deadline forces the OPTIMAL plan.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76672" cy="38404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840480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infeasible</a:t>
            </a:r>
            <a:pPr indent="0" marL="0">
              <a:buNone/>
            </a:pPr>
            <a:r>
              <a:rPr lang="en-US" sz="1100" i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battery 20, t=85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4224528"/>
            <a:ext cx="5376672" cy="1737360"/>
          </a:xfrm>
          <a:prstGeom prst="rect">
            <a:avLst/>
          </a:prstGeom>
          <a:solidFill>
            <a:srgbClr val="1B254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4315968"/>
            <a:ext cx="5047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unsolvable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Expanded Nodes: 815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E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Dead-Ends detected: 151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28232" y="5596128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Nightfall blocks the goal -&gt; no plan.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Discrete vs Continuous Energy Modelling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733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— Discrete (action)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= one instantaneous jump.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state space; clean recipe-like plans.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write &amp; verify.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no physics — “+25 in zero time”.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say how long the rover sits.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40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645920"/>
            <a:ext cx="54406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67335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— Continuous (process)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rises by rate × elapsed time.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World-driven: process + event, not a chosen step.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faithful; plan shows waiting gaps.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calibration: Q2 rates ~50× smaller than Q1.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guaranteed, optimality is not.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Under Energy Uncertainty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assumes a fully-known, deterministic world. Real rovers don’t. Three frameworks handle uncertainty: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352044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in transitions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don’t know exactly what my action will do, but I do know where I am.”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0248" y="1874520"/>
            <a:ext cx="3520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0248" y="1874520"/>
            <a:ext cx="352044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1920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POMDP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07408" y="2240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in observation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53128" y="269748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don’t even know exactly where I am.” — belief over states (real Mars rovers).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91856" y="1874520"/>
            <a:ext cx="3520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91856" y="1874520"/>
            <a:ext cx="3520440" cy="6858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129016" y="1920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 / contingent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9016" y="2240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paranoid, stay simple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74736" y="269748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“Don’t model the uncertainty — just plan for the worst case + add if-then branches.”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82528" cy="1600200"/>
          </a:xfrm>
          <a:prstGeom prst="rect">
            <a:avLst/>
          </a:prstGeom>
          <a:solidFill>
            <a:srgbClr val="21295C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5445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stayed deterministic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assignment asks for PDDL / PDDL+ — MDP/POMDP are different languages.   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 mainstream PDDL planner supports probabilities (no syntax for “90% chance”).   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deterministic model already shows the core lesson: timing drives feasibility.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5943600" cy="5943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2743200" cy="2743200"/>
          </a:xfrm>
          <a:prstGeom prst="ellipse">
            <a:avLst/>
          </a:prstGeom>
          <a:solidFill>
            <a:srgbClr val="E8A33D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two models demonstrate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pPr indent="0" marL="0">
              <a:buNone/>
            </a:pPr>
            <a:r>
              <a:rPr lang="en-US" sz="16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energy as a hard numeric constraint: changing one number (battery 50→25) forces the planner to recharge.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pPr indent="0" marL="0">
              <a:buNone/>
            </a:pPr>
            <a:r>
              <a:rPr lang="en-US" sz="16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continuous charging (process) + automatic nightfall (event). Timing becomes a feasibility constraint: 47 ticks → 20 ticks → unsolvable, by changing only the start time.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limitations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moves (no travel time) — could be a durative-action.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always traversable — ignores the task–motion gap (obstacles).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agent, deterministic world.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Planetary Rover - PDDL / PDDL+</dc:title>
  <dc:subject>PptxGenJS Presentation</dc:subject>
  <dc:creator>Hani Bouhraoua</dc:creator>
  <cp:lastModifiedBy>Hani Bouhraoua</cp:lastModifiedBy>
  <cp:revision>1</cp:revision>
  <dcterms:created xsi:type="dcterms:W3CDTF">2026-05-31T18:13:59Z</dcterms:created>
  <dcterms:modified xsi:type="dcterms:W3CDTF">2026-05-31T18:13:59Z</dcterms:modified>
</cp:coreProperties>
</file>